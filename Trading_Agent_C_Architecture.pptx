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TRADING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606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9E0B"/>
                </a:solidFill>
              </a:rPr>
              <a:t>Strategy C — Agentic 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6 agents  |  3 languages  |  Haiku + Sonnet  |  Full trace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Phase 0 (Simulation)   |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Why Strategy C: Inversion of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85800"/>
            <a:ext cx="5394960" cy="5303520"/>
          </a:xfrm>
          <a:prstGeom prst="rect">
            <a:avLst/>
          </a:prstGeom>
          <a:solidFill>
            <a:srgbClr val="1E293B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Strategy A /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Python orchestrator controls all data gathering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One Claude call receives pre-packaged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Claude outputs a trade list,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No tool use by 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No agent-to-agent communication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Static config — no learning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Minimal trace logging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685800"/>
            <a:ext cx="6035040" cy="5303520"/>
          </a:xfrm>
          <a:prstGeom prst="rect">
            <a:avLst/>
          </a:prstGeom>
          <a:solidFill>
            <a:srgbClr val="78350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8229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Strategy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28016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Claude agents decide what to look up via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002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6 specialized agents with minimal tool 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2024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Orchestrator coordinates the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4028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Research Agent parallel per ticker (Haiku)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6032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Risk Agent validates each 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88036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Learning Agent adjusts params nightly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2004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Full trace logging from day one (c_traces)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Agent Roster: 6 Agents, 2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85800"/>
            <a:ext cx="3749039" cy="1463040"/>
          </a:xfrm>
          <a:prstGeom prst="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B82F6"/>
                </a:solidFill>
              </a:rPr>
              <a:t>Market Agent</a:t>
            </a:r>
          </a:p>
          <a:p>
            <a:r>
              <a:rPr sz="850" b="0">
                <a:solidFill>
                  <a:srgbClr val="94A3B8"/>
                </a:solidFill>
              </a:rPr>
              <a:t>Haiku  |  Python</a:t>
            </a:r>
          </a:p>
          <a:p>
            <a:r>
              <a:rPr sz="850" b="0">
                <a:solidFill>
                  <a:srgbClr val="CBD5E1"/>
                </a:solidFill>
              </a:rPr>
              <a:t>Session parameters</a:t>
            </a:r>
          </a:p>
          <a:p>
            <a:r>
              <a:rPr sz="850" b="0">
                <a:solidFill>
                  <a:srgbClr val="CBD5E1"/>
                </a:solidFill>
              </a:rPr>
              <a:t>GO/CAUTION/SKIP</a:t>
            </a:r>
          </a:p>
          <a:p>
            <a:r>
              <a:rPr sz="850" b="0">
                <a:solidFill>
                  <a:srgbClr val="CBD5E1"/>
                </a:solidFill>
              </a:rPr>
              <a:t>6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9079" y="685800"/>
            <a:ext cx="3749039" cy="1463040"/>
          </a:xfrm>
          <a:prstGeom prst="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B82F6"/>
                </a:solidFill>
              </a:rPr>
              <a:t>News Analyst</a:t>
            </a:r>
          </a:p>
          <a:p>
            <a:r>
              <a:rPr sz="850" b="0">
                <a:solidFill>
                  <a:srgbClr val="94A3B8"/>
                </a:solidFill>
              </a:rPr>
              <a:t>Haiku  |  TypeScript</a:t>
            </a:r>
          </a:p>
          <a:p>
            <a:r>
              <a:rPr sz="850" b="0">
                <a:solidFill>
                  <a:srgbClr val="CBD5E1"/>
                </a:solidFill>
              </a:rPr>
              <a:t>Per-candidate news</a:t>
            </a:r>
          </a:p>
          <a:p>
            <a:r>
              <a:rPr sz="850" b="0">
                <a:solidFill>
                  <a:srgbClr val="CBD5E1"/>
                </a:solidFill>
              </a:rPr>
              <a:t>OTel span traces</a:t>
            </a:r>
          </a:p>
          <a:p>
            <a:r>
              <a:rPr sz="850" b="0">
                <a:solidFill>
                  <a:srgbClr val="CBD5E1"/>
                </a:solidFill>
              </a:rPr>
              <a:t>search_news, parse_earnings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09558" y="685800"/>
            <a:ext cx="3749039" cy="1463040"/>
          </a:xfrm>
          <a:prstGeom prst="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B82F6"/>
                </a:solidFill>
              </a:rPr>
              <a:t>Research Agent</a:t>
            </a:r>
          </a:p>
          <a:p>
            <a:r>
              <a:rPr sz="850" b="0">
                <a:solidFill>
                  <a:srgbClr val="94A3B8"/>
                </a:solidFill>
              </a:rPr>
              <a:t>Haiku  |  Python (x N parallel)</a:t>
            </a:r>
          </a:p>
          <a:p>
            <a:r>
              <a:rPr sz="850" b="0">
                <a:solidFill>
                  <a:srgbClr val="CBD5E1"/>
                </a:solidFill>
              </a:rPr>
              <a:t>Per-ticker research</a:t>
            </a:r>
          </a:p>
          <a:p>
            <a:r>
              <a:rPr sz="850" b="0">
                <a:solidFill>
                  <a:srgbClr val="CBD5E1"/>
                </a:solidFill>
              </a:rPr>
              <a:t>conviction_score</a:t>
            </a:r>
          </a:p>
          <a:p>
            <a:r>
              <a:rPr sz="850" b="0">
                <a:solidFill>
                  <a:srgbClr val="CBD5E1"/>
                </a:solidFill>
              </a:rPr>
              <a:t>4 tools per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2240280"/>
            <a:ext cx="3749039" cy="146304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F4444"/>
                </a:solidFill>
              </a:rPr>
              <a:t>Risk Agent</a:t>
            </a:r>
          </a:p>
          <a:p>
            <a:r>
              <a:rPr sz="850" b="0">
                <a:solidFill>
                  <a:srgbClr val="94A3B8"/>
                </a:solidFill>
              </a:rPr>
              <a:t>Haiku  |  Python</a:t>
            </a:r>
          </a:p>
          <a:p>
            <a:r>
              <a:rPr sz="850" b="0">
                <a:solidFill>
                  <a:srgbClr val="CBD5E1"/>
                </a:solidFill>
              </a:rPr>
              <a:t>Validates proposals</a:t>
            </a:r>
          </a:p>
          <a:p>
            <a:r>
              <a:rPr sz="850" b="0">
                <a:solidFill>
                  <a:srgbClr val="CBD5E1"/>
                </a:solidFill>
              </a:rPr>
              <a:t>position+sector limits</a:t>
            </a:r>
          </a:p>
          <a:p>
            <a:r>
              <a:rPr sz="850" b="0">
                <a:solidFill>
                  <a:srgbClr val="CBD5E1"/>
                </a:solidFill>
              </a:rPr>
              <a:t>4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79" y="2240280"/>
            <a:ext cx="3749039" cy="1463040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59E0B"/>
                </a:solidFill>
              </a:rPr>
              <a:t>Orchestrator</a:t>
            </a:r>
          </a:p>
          <a:p>
            <a:r>
              <a:rPr sz="850" b="0">
                <a:solidFill>
                  <a:srgbClr val="94A3B8"/>
                </a:solidFill>
              </a:rPr>
              <a:t>Sonnet  |  Python</a:t>
            </a:r>
          </a:p>
          <a:p>
            <a:r>
              <a:rPr sz="850" b="0">
                <a:solidFill>
                  <a:srgbClr val="CBD5E1"/>
                </a:solidFill>
              </a:rPr>
              <a:t>Coordinates loop</a:t>
            </a:r>
          </a:p>
          <a:p>
            <a:r>
              <a:rPr sz="850" b="0">
                <a:solidFill>
                  <a:srgbClr val="CBD5E1"/>
                </a:solidFill>
              </a:rPr>
              <a:t>final trade decisions</a:t>
            </a:r>
          </a:p>
          <a:p>
            <a:r>
              <a:rPr sz="850" b="0">
                <a:solidFill>
                  <a:srgbClr val="CBD5E1"/>
                </a:solidFill>
              </a:rPr>
              <a:t>loop_iteration 1→2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58" y="2240280"/>
            <a:ext cx="3749039" cy="1463040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59E0B"/>
                </a:solidFill>
              </a:rPr>
              <a:t>Learning Agent</a:t>
            </a:r>
          </a:p>
          <a:p>
            <a:r>
              <a:rPr sz="850" b="0">
                <a:solidFill>
                  <a:srgbClr val="94A3B8"/>
                </a:solidFill>
              </a:rPr>
              <a:t>Sonnet  |  Python</a:t>
            </a:r>
          </a:p>
          <a:p>
            <a:r>
              <a:rPr sz="850" b="0">
                <a:solidFill>
                  <a:srgbClr val="CBD5E1"/>
                </a:solidFill>
              </a:rPr>
              <a:t>EOD reflection</a:t>
            </a:r>
          </a:p>
          <a:p>
            <a:r>
              <a:rPr sz="850" b="0">
                <a:solidFill>
                  <a:srgbClr val="CBD5E1"/>
                </a:solidFill>
              </a:rPr>
              <a:t>adjusts strategy_params</a:t>
            </a:r>
          </a:p>
          <a:p>
            <a:r>
              <a:rPr sz="850" b="0">
                <a:solidFill>
                  <a:srgbClr val="CBD5E1"/>
                </a:solidFill>
              </a:rPr>
              <a:t>7 tools, max 2 adj/day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Premarket Pipeline: Multi-Agent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777240"/>
            <a:ext cx="1234440" cy="1371600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59E0B"/>
                </a:solidFill>
              </a:rPr>
              <a:t>load_params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protection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check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17320" y="1463040.0"/>
            <a:ext cx="73152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490472" y="777240"/>
            <a:ext cx="1234440" cy="1371600"/>
          </a:xfrm>
          <a:prstGeom prst="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B82F6"/>
                </a:solidFill>
              </a:rPr>
              <a:t>Market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Agent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Haiku 6T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24912" y="1463040.0"/>
            <a:ext cx="73152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798064" y="777240"/>
            <a:ext cx="1234440" cy="1371600"/>
          </a:xfrm>
          <a:prstGeom prst="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B82F6"/>
                </a:solidFill>
              </a:rPr>
              <a:t>Scanner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430+ tickers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det. Python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32504" y="1463040.0"/>
            <a:ext cx="73152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105656" y="777240"/>
            <a:ext cx="1234440" cy="1371600"/>
          </a:xfrm>
          <a:prstGeom prst="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B82F6"/>
                </a:solidFill>
              </a:rPr>
              <a:t>News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Analyst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TS Haiku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40096" y="1463040.0"/>
            <a:ext cx="73152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13248" y="777240"/>
            <a:ext cx="1234440" cy="1371600"/>
          </a:xfrm>
          <a:prstGeom prst="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B82F6"/>
                </a:solidFill>
              </a:rPr>
              <a:t>Research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Agent x N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Haiku para.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47688" y="1463040.0"/>
            <a:ext cx="73152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720840" y="777240"/>
            <a:ext cx="1234440" cy="1371600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59E0B"/>
                </a:solidFill>
              </a:rPr>
              <a:t>Orchestrator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synth loop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Sonnet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5280" y="1463040.0"/>
            <a:ext cx="73152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028432" y="777240"/>
            <a:ext cx="1234440" cy="137160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F4444"/>
                </a:solidFill>
              </a:rPr>
              <a:t>Risk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Agent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Haiku 4T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62872" y="1463040.0"/>
            <a:ext cx="73152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36024" y="777240"/>
            <a:ext cx="1234440" cy="137160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F4444"/>
                </a:solidFill>
              </a:rPr>
              <a:t>Retry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gate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max iter=2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570464" y="1463040.0"/>
            <a:ext cx="73152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643616" y="777240"/>
            <a:ext cx="1234440" cy="1371600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2C55E"/>
                </a:solidFill>
              </a:rPr>
              <a:t>guardrails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atr_sizer</a:t>
            </a:r>
          </a:p>
          <a:p>
            <a:pPr algn="ctr"/>
            <a:r>
              <a:rPr sz="750" b="0">
                <a:solidFill>
                  <a:srgbClr val="CBD5E1"/>
                </a:solidFill>
              </a:rPr>
              <a:t>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331720"/>
            <a:ext cx="11612880" cy="32004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F4444"/>
                </a:solidFill>
              </a:rPr>
              <a:t>Retry loop: all rejected -&gt; re-run Research; some survived -&gt; re-run Risk only. CAUTION: no retry.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743200"/>
            <a:ext cx="11612880" cy="320040"/>
          </a:xfrm>
          <a:prstGeom prst="rect">
            <a:avLst/>
          </a:prstGeom>
          <a:solidFill>
            <a:srgbClr val="1E293B"/>
          </a:solidFill>
          <a:ln w="19050">
            <a:solidFill>
              <a:srgbClr val="37415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Research Agent runs one Haiku instance per candidate in parallel. Each has 4 tools and a hard token budget.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200400"/>
            <a:ext cx="11612880" cy="347472"/>
          </a:xfrm>
          <a:prstGeom prst="rect">
            <a:avLst/>
          </a:prstGeom>
          <a:solidFill>
            <a:srgbClr val="1E293B"/>
          </a:solidFill>
          <a:ln w="19050">
            <a:solidFill>
              <a:srgbClr val="37415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</a:rPr>
              <a:t>Market Agent (6 tools):  get_vix  |  get_futures  |  get_fear_greed  |  get_sector_etfs  |  get_economic_calendar  |  set_session_params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602736"/>
            <a:ext cx="11612880" cy="347472"/>
          </a:xfrm>
          <a:prstGeom prst="rect">
            <a:avLst/>
          </a:prstGeom>
          <a:solidFill>
            <a:srgbClr val="1E293B"/>
          </a:solidFill>
          <a:ln w="19050">
            <a:solidFill>
              <a:srgbClr val="37415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</a:rPr>
              <a:t>Research Agent (4 tools each):  get_price_history  |  get_technical_indicators  |  get_sector_context  |  get_peer_comparison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005072"/>
            <a:ext cx="11612880" cy="347472"/>
          </a:xfrm>
          <a:prstGeom prst="rect">
            <a:avLst/>
          </a:prstGeom>
          <a:solidFill>
            <a:srgbClr val="1E293B"/>
          </a:solidFill>
          <a:ln w="19050">
            <a:solidFill>
              <a:srgbClr val="37415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</a:rPr>
              <a:t>Risk Agent (4 tools):  check_position_limits  |  check_sector_concentration  |  check_daily_pnl  |  check_buying_power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407408"/>
            <a:ext cx="11612880" cy="347472"/>
          </a:xfrm>
          <a:prstGeom prst="rect">
            <a:avLst/>
          </a:prstGeom>
          <a:solidFill>
            <a:srgbClr val="1E293B"/>
          </a:solidFill>
          <a:ln w="19050">
            <a:solidFill>
              <a:srgbClr val="37415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Orchestrator tools:  load_params  |  get_pending_trades  |  approve_trade  |  reject_trade  |  write_session_meta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Orchestrator Synthesis + Retry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14400"/>
            <a:ext cx="2011680" cy="1005840"/>
          </a:xfrm>
          <a:prstGeom prst="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B82F6"/>
                </a:solidFill>
              </a:rPr>
              <a:t>Research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Summaries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1417320.0"/>
            <a:ext cx="22860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514600" y="914400"/>
            <a:ext cx="2011680" cy="1005840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59E0B"/>
                </a:solidFill>
              </a:rPr>
              <a:t>Orchestrator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Sonnet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synth iter=1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26280" y="1417320.0"/>
            <a:ext cx="22860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754880" y="914400"/>
            <a:ext cx="2011680" cy="100584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F4444"/>
                </a:solidFill>
              </a:rPr>
              <a:t>Risk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Agent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Haiku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66560" y="1417320.0"/>
            <a:ext cx="22860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995160" y="914400"/>
            <a:ext cx="2011680" cy="100584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F4444"/>
                </a:solidFill>
              </a:rPr>
              <a:t>Retry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Needed?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06840" y="1417320.0"/>
            <a:ext cx="22860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235440" y="914400"/>
            <a:ext cx="2011680" cy="1005840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2C55E"/>
                </a:solidFill>
              </a:rPr>
              <a:t>Execute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Orders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if 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57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YES: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468880"/>
            <a:ext cx="3657600" cy="1005840"/>
          </a:xfrm>
          <a:prstGeom prst="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B82F6"/>
                </a:solidFill>
              </a:rPr>
              <a:t>All rejected: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re-run Research Agent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then second synthesis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2468880"/>
            <a:ext cx="3657600" cy="100584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F4444"/>
                </a:solidFill>
              </a:rPr>
              <a:t>Some survived: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re-run Risk Agent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then second synthesis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6118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59E0B"/>
                </a:solidFill>
              </a:rPr>
              <a:t>loop_iteration=2 (second synthesis call — terminal, no further retry)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114800"/>
            <a:ext cx="11612880" cy="320040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CAUTION mode: retry loop disabled regardless of retry_needed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72000"/>
            <a:ext cx="11612880" cy="365760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Orchestrator output: { trades[], session_meta{}, retry_needed: bool, terminal_reason: str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Per-Agent Tool Budgets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685800"/>
            <a:ext cx="3840480" cy="50292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B82F6"/>
                </a:solidFill>
              </a:rPr>
              <a:t>Market Agent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(Haiku)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get_vix()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63624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get_futures()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92808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get_fear_greed()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21992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get_sector_etfs()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51176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get_economic_calendar()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880360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set_session_params()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685800"/>
            <a:ext cx="3840480" cy="50292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B82F6"/>
                </a:solidFill>
              </a:rPr>
              <a:t>Research Agent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(Haiku x 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34440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get_price_history()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63624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get_technical_indicators()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92808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get_sector_context()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221992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get_peer_comparison()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685800"/>
            <a:ext cx="3840480" cy="502920"/>
          </a:xfrm>
          <a:prstGeom prst="rect">
            <a:avLst/>
          </a:prstGeom>
          <a:solidFill>
            <a:srgbClr val="7F1D1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F4444"/>
                </a:solidFill>
              </a:rPr>
              <a:t>Risk Agent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(Haiku)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1234440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check_position_limits()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1563624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check_sector_concentration()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1892808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check_daily_pnl()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2221992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check_buying_power()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566160"/>
            <a:ext cx="3840480" cy="502920"/>
          </a:xfrm>
          <a:prstGeom prst="rect">
            <a:avLst/>
          </a:prstGeom>
          <a:solidFill>
            <a:srgbClr val="78350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9E0B"/>
                </a:solidFill>
              </a:rPr>
              <a:t>Learning Agent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(Sonnet) — READ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14800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read_today_trades()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443984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read_session_context()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773168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read_strategy_params()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02352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read_recent_learnings()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566160"/>
            <a:ext cx="3840480" cy="502920"/>
          </a:xfrm>
          <a:prstGeom prst="rect">
            <a:avLst/>
          </a:prstGeom>
          <a:solidFill>
            <a:srgbClr val="78350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9E0B"/>
                </a:solidFill>
              </a:rPr>
              <a:t>Learning Agent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(Sonnet) — WRITE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114800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write_learning()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443984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adjust_param()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4773168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recommend_goal()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3566160"/>
            <a:ext cx="3840480" cy="502920"/>
          </a:xfrm>
          <a:prstGeom prst="rect">
            <a:avLst/>
          </a:prstGeom>
          <a:solidFill>
            <a:srgbClr val="78350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9E0B"/>
                </a:solidFill>
              </a:rPr>
              <a:t>Orchestrator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(Sonnet)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4114800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load_params()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4443984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get_pending_trades()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4773168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approve_trade()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80" y="5102352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reject_trade()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5431536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write_session_meta()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Learning Agent: max 2 param adjustments/day  |  cooldown enforced per param  |  bounds enforced per param  |  safety params blocked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Intraday Session + Entry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103120" cy="914400"/>
          </a:xfrm>
          <a:prstGeom prst="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B82F6"/>
                </a:solidFill>
              </a:rPr>
              <a:t>Sync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Positions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Alpaca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60320" y="1371600.0"/>
            <a:ext cx="27432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834640" y="914400"/>
            <a:ext cx="2103120" cy="914400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2C55E"/>
                </a:solidFill>
              </a:rPr>
              <a:t>Update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P&amp;L + WM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fill_price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0" y="1371600.0"/>
            <a:ext cx="27432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12080" y="914400"/>
            <a:ext cx="2103120" cy="91440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F4444"/>
                </a:solidFill>
              </a:rPr>
              <a:t>Check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Exits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4 conditions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0" y="1371600.0"/>
            <a:ext cx="27432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589520" y="914400"/>
            <a:ext cx="2103120" cy="914400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59E0B"/>
                </a:solidFill>
              </a:rPr>
              <a:t>Goal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Gates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continue?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92640" y="1371600.0"/>
            <a:ext cx="27432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966960" y="914400"/>
            <a:ext cx="2103120" cy="914400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2C55E"/>
                </a:solidFill>
              </a:rPr>
              <a:t>New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Entries?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intraday_entries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Exit conditions: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77440"/>
            <a:ext cx="2240280" cy="685800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2C55E"/>
                </a:solidFill>
              </a:rPr>
              <a:t>TARGET</a:t>
            </a:r>
          </a:p>
          <a:p>
            <a:r>
              <a:rPr sz="800">
                <a:solidFill>
                  <a:srgbClr val="CBD5E1"/>
                </a:solidFill>
              </a:rPr>
              <a:t>price &gt;= target
market sell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377440"/>
            <a:ext cx="2240280" cy="68580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F4444"/>
                </a:solidFill>
              </a:rPr>
              <a:t>STOP</a:t>
            </a:r>
          </a:p>
          <a:p>
            <a:r>
              <a:rPr sz="800">
                <a:solidFill>
                  <a:srgbClr val="CBD5E1"/>
                </a:solidFill>
              </a:rPr>
              <a:t>price &lt;= stop_loss
market sell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377440"/>
            <a:ext cx="2240280" cy="685800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59E0B"/>
                </a:solidFill>
              </a:rPr>
              <a:t>NATIVE_TRAIL</a:t>
            </a:r>
          </a:p>
          <a:p>
            <a:r>
              <a:rPr sz="800">
                <a:solidFill>
                  <a:srgbClr val="CBD5E1"/>
                </a:solidFill>
              </a:rPr>
              <a:t>Alpaca server-side
trailing stop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377440"/>
            <a:ext cx="2240280" cy="685800"/>
          </a:xfrm>
          <a:prstGeom prst="rect">
            <a:avLst/>
          </a:prstGeom>
          <a:solidFill>
            <a:srgbClr val="4A044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A855F7"/>
                </a:solidFill>
              </a:rPr>
              <a:t>BONUS_TARGET</a:t>
            </a:r>
          </a:p>
          <a:p>
            <a:r>
              <a:rPr sz="800">
                <a:solidFill>
                  <a:srgbClr val="CBD5E1"/>
                </a:solidFill>
              </a:rPr>
              <a:t>daily P&amp;L &gt;= bonus
close 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2377440"/>
            <a:ext cx="2240280" cy="68580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F4444"/>
                </a:solidFill>
              </a:rPr>
              <a:t>EOD</a:t>
            </a:r>
          </a:p>
          <a:p>
            <a:r>
              <a:rPr sz="800">
                <a:solidFill>
                  <a:srgbClr val="CBD5E1"/>
                </a:solidFill>
              </a:rPr>
              <a:t>3:55 PM
force-close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840480"/>
            <a:ext cx="11612880" cy="365760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New entries: enabled only if intraday_entries=True in c_agent_config (human-only setting). Runs same agent loop as premarket.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343400"/>
            <a:ext cx="11612880" cy="347472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c_positions (CLOSED): status, realized_pnl, close_reason, mae, mfe  |  c_sessions: cost_breakdown updated per agent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EOD Session + Learning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2103120" cy="914400"/>
          </a:xfrm>
          <a:prstGeom prst="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B82F6"/>
                </a:solidFill>
              </a:rPr>
              <a:t>Reconcile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Positions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backfill fills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77440" y="1234440.0"/>
            <a:ext cx="155448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532888" y="777240"/>
            <a:ext cx="2103120" cy="914400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2C55E"/>
                </a:solidFill>
              </a:rPr>
              <a:t>Force Close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cancel_all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close all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36008" y="1234440.0"/>
            <a:ext cx="155448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791456" y="777240"/>
            <a:ext cx="2103120" cy="914400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2C55E"/>
                </a:solidFill>
              </a:rPr>
              <a:t>Compute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Performance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P&amp;L, win_rate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94576" y="1234440.0"/>
            <a:ext cx="155448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050024" y="777240"/>
            <a:ext cx="2103120" cy="91440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F4444"/>
                </a:solidFill>
              </a:rPr>
              <a:t>Protection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Check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6 tiers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53144" y="1234440.0"/>
            <a:ext cx="155448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308592" y="777240"/>
            <a:ext cx="2103120" cy="914400"/>
          </a:xfrm>
          <a:prstGeom prst="rect">
            <a:avLst/>
          </a:prstGeom>
          <a:solidFill>
            <a:srgbClr val="4A044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A855F7"/>
                </a:solidFill>
              </a:rPr>
              <a:t>Update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Goals</a:t>
            </a:r>
          </a:p>
          <a:p>
            <a:pPr algn="ctr"/>
            <a:r>
              <a:rPr sz="850" b="0">
                <a:solidFill>
                  <a:srgbClr val="CBD5E1"/>
                </a:solidFill>
              </a:rPr>
              <a:t>c_goals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11680"/>
            <a:ext cx="4114800" cy="1280160"/>
          </a:xfrm>
          <a:prstGeom prst="rect">
            <a:avLst/>
          </a:prstGeom>
          <a:solidFill>
            <a:srgbClr val="78350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Learning Agent (Sonnet)</a:t>
            </a:r>
          </a:p>
          <a:p>
            <a:pPr algn="ctr"/>
            <a:r>
              <a:rPr sz="850">
                <a:solidFill>
                  <a:srgbClr val="F59E0B"/>
                </a:solidFill>
              </a:rPr>
              <a:t>7 tools  |  max 2 param adjustments/day  |  requires &gt;=3 trades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011680"/>
            <a:ext cx="3200400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read_today_trades()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322576"/>
            <a:ext cx="3200400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read_session_context()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633472"/>
            <a:ext cx="3200400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read_strategy_params()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944368"/>
            <a:ext cx="3200400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CBD5E1"/>
                </a:solidFill>
              </a:rPr>
              <a:t>read_recent_learnings()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011680"/>
            <a:ext cx="3200400" cy="27432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ECACA"/>
                </a:solidFill>
              </a:rPr>
              <a:t>write_learning()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322576"/>
            <a:ext cx="3200400" cy="27432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ECACA"/>
                </a:solidFill>
              </a:rPr>
              <a:t>adjust_param()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633472"/>
            <a:ext cx="3200400" cy="27432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ECACA"/>
                </a:solidFill>
              </a:rPr>
              <a:t>recommend_goal()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474720"/>
            <a:ext cx="11612880" cy="365760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c_strategy_params (updated values feed into tomorrow's premarket load_params())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77639"/>
            <a:ext cx="3474720" cy="91440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F4444"/>
                </a:solidFill>
              </a:rPr>
              <a:t>c_learnings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observations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avoid_ticker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977639"/>
            <a:ext cx="3474720" cy="914400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59E0B"/>
                </a:solidFill>
              </a:rPr>
              <a:t>c_strategy_params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param adjustments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(max 2/day)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977639"/>
            <a:ext cx="3474720" cy="914400"/>
          </a:xfrm>
          <a:prstGeom prst="rect">
            <a:avLst/>
          </a:prstGeom>
          <a:solidFill>
            <a:srgbClr val="4A044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A855F7"/>
                </a:solidFill>
              </a:rPr>
              <a:t>c_learnings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goal_recommendations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(human approval req)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Observability: Trace System (c_traces)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777240"/>
            <a:ext cx="3291840" cy="2103120"/>
          </a:xfrm>
          <a:prstGeom prst="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B82F6"/>
                </a:solidFill>
              </a:rPr>
              <a:t>Python JSON Traces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TraceLogger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log_tool_call()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log_agent_message()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log_decision() / log_error()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session-&gt;agent-&gt;tool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span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3703320" y="777240"/>
            <a:ext cx="3291840" cy="2103120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2C55E"/>
                </a:solidFill>
              </a:rPr>
              <a:t>TypeScript OTel Spans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News Analyst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OTEL_SPAN: {json}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agent.name, agent.language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session.id, model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tracer.ingest_otel_span()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normalize_otel_span()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777240"/>
            <a:ext cx="3291840" cy="2103120"/>
          </a:xfrm>
          <a:prstGeom prst="rect">
            <a:avLst/>
          </a:prstGeom>
          <a:solidFill>
            <a:srgbClr val="4A044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A855F7"/>
                </a:solidFill>
              </a:rPr>
              <a:t>Structured Log Lines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Learning Agent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{ISO} [learning_agent]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session={sid} event=...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normalized by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>normalize_log_line()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.0" y="2880360"/>
            <a:ext cx="4114800.0" cy="13716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49240.0" y="2880360"/>
            <a:ext cx="594360.0" cy="13716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943600" y="2880360"/>
            <a:ext cx="2926080.0" cy="13716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114800" y="3017520"/>
            <a:ext cx="4114800" cy="2194560"/>
          </a:xfrm>
          <a:prstGeom prst="rect">
            <a:avLst/>
          </a:prstGeom>
          <a:solidFill>
            <a:srgbClr val="7F1D1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F4444"/>
                </a:solidFill>
              </a:rPr>
              <a:t>c_traces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session_id, span_id, parent_span_id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entity_id (research_{TICKER}), sequence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agent, step_type, tool_name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tool_input, tool_output, agent_reasoning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outcome (controlled vocabulary)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tokens_in, tokens_out, latency_ms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model, cost_usd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011680"/>
            <a:ext cx="3291840" cy="182880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F4444"/>
                </a:solidFill>
              </a:rPr>
              <a:t>c_sessions (cost rollup)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total_cost_usd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cost_breakdown (per agent)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total_tokens, total_latency_ms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loop_iterations, agents_invoked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8229600" y="2834640"/>
            <a:ext cx="457200" cy="822960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2880" y="5349240"/>
            <a:ext cx="11887200" cy="347472"/>
          </a:xfrm>
          <a:prstGeom prst="rect">
            <a:avLst/>
          </a:prstGeom>
          <a:solidFill>
            <a:srgbClr val="1E293B"/>
          </a:solidFill>
          <a:ln w="19050">
            <a:solidFill>
              <a:srgbClr val="37415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Haiku: $0.80/$4.00 per Mtok (in/out)   |   Sonnet: $3.00/$15.00 per Mtok (in/out)   |   flush_cost_breakdown() called after each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Protection System: 6-Tier 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check_protection_status() runs at the start of every session. Events written to c_protection_events are immutable.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8229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051560"/>
            <a:ext cx="35661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051560"/>
            <a:ext cx="41148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1051560"/>
            <a:ext cx="22860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44752"/>
            <a:ext cx="822960" cy="621792"/>
          </a:xfrm>
          <a:prstGeom prst="rect">
            <a:avLst/>
          </a:prstGeom>
          <a:solidFill>
            <a:srgbClr val="14532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2C55E"/>
                </a:solidFill>
              </a:rPr>
              <a:t>Tier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444752"/>
            <a:ext cx="3566160" cy="621792"/>
          </a:xfrm>
          <a:prstGeom prst="rect">
            <a:avLst/>
          </a:prstGeom>
          <a:solidFill>
            <a:srgbClr val="14532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2C55E"/>
                </a:solidFill>
              </a:rPr>
              <a:t>(reserved)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444752"/>
            <a:ext cx="4114800" cy="621792"/>
          </a:xfrm>
          <a:prstGeom prst="rect">
            <a:avLst/>
          </a:prstGeom>
          <a:solidFill>
            <a:srgbClr val="14532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2C55E"/>
                </a:solidFill>
              </a:rPr>
              <a:t>Log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444752"/>
            <a:ext cx="2286000" cy="621792"/>
          </a:xfrm>
          <a:prstGeom prst="rect">
            <a:avLst/>
          </a:prstGeom>
          <a:solidFill>
            <a:srgbClr val="14532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2C55E"/>
                </a:solidFill>
              </a:rP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03120"/>
            <a:ext cx="822960" cy="621792"/>
          </a:xfrm>
          <a:prstGeom prst="rect">
            <a:avLst/>
          </a:prstGeom>
          <a:solidFill>
            <a:srgbClr val="1538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06B6D4"/>
                </a:solidFill>
              </a:rPr>
              <a:t>Tier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103120"/>
            <a:ext cx="3566160" cy="621792"/>
          </a:xfrm>
          <a:prstGeom prst="rect">
            <a:avLst/>
          </a:prstGeom>
          <a:solidFill>
            <a:srgbClr val="1538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06B6D4"/>
                </a:solidFill>
              </a:rPr>
              <a:t>daily_pnl &lt;= -$500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103120"/>
            <a:ext cx="4114800" cy="621792"/>
          </a:xfrm>
          <a:prstGeom prst="rect">
            <a:avLst/>
          </a:prstGeom>
          <a:solidFill>
            <a:srgbClr val="1538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06B6D4"/>
                </a:solidFill>
              </a:rPr>
              <a:t>Suspend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103120"/>
            <a:ext cx="2286000" cy="621792"/>
          </a:xfrm>
          <a:prstGeom prst="rect">
            <a:avLst/>
          </a:prstGeom>
          <a:solidFill>
            <a:srgbClr val="1538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06B6D4"/>
                </a:solidFill>
              </a:rPr>
              <a:t>End of 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61488"/>
            <a:ext cx="822960" cy="621792"/>
          </a:xfrm>
          <a:prstGeom prst="rect">
            <a:avLst/>
          </a:prstGeom>
          <a:solidFill>
            <a:srgbClr val="3D2B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59E0B"/>
                </a:solidFill>
              </a:rPr>
              <a:t>Tier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2761488"/>
            <a:ext cx="3566160" cy="621792"/>
          </a:xfrm>
          <a:prstGeom prst="rect">
            <a:avLst/>
          </a:prstGeom>
          <a:solidFill>
            <a:srgbClr val="3D2B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59E0B"/>
                </a:solidFill>
              </a:rPr>
              <a:t>rolling_3d_pnl &lt;= -$1,000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761488"/>
            <a:ext cx="4114800" cy="621792"/>
          </a:xfrm>
          <a:prstGeom prst="rect">
            <a:avLst/>
          </a:prstGeom>
          <a:solidFill>
            <a:srgbClr val="3D2B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59E0B"/>
                </a:solidFill>
              </a:rPr>
              <a:t>Reduce max_positions 50%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761488"/>
            <a:ext cx="2286000" cy="621792"/>
          </a:xfrm>
          <a:prstGeom prst="rect">
            <a:avLst/>
          </a:prstGeom>
          <a:solidFill>
            <a:srgbClr val="3D2B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59E0B"/>
                </a:solidFill>
              </a:rPr>
              <a:t>2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19856"/>
            <a:ext cx="822960" cy="621792"/>
          </a:xfrm>
          <a:prstGeom prst="rect">
            <a:avLst/>
          </a:prstGeom>
          <a:solidFill>
            <a:srgbClr val="5A180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97316"/>
                </a:solidFill>
              </a:rPr>
              <a:t>Tier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3419856"/>
            <a:ext cx="3566160" cy="621792"/>
          </a:xfrm>
          <a:prstGeom prst="rect">
            <a:avLst/>
          </a:prstGeom>
          <a:solidFill>
            <a:srgbClr val="5A180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97316"/>
                </a:solidFill>
              </a:rPr>
              <a:t>drawdown &gt;= 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419856"/>
            <a:ext cx="4114800" cy="621792"/>
          </a:xfrm>
          <a:prstGeom prst="rect">
            <a:avLst/>
          </a:prstGeom>
          <a:solidFill>
            <a:srgbClr val="5A180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97316"/>
                </a:solidFill>
              </a:rPr>
              <a:t>Suspend all trading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3419856"/>
            <a:ext cx="2286000" cy="621792"/>
          </a:xfrm>
          <a:prstGeom prst="rect">
            <a:avLst/>
          </a:prstGeom>
          <a:solidFill>
            <a:srgbClr val="5A180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97316"/>
                </a:solidFill>
              </a:rPr>
              <a:t>24 hours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78224"/>
            <a:ext cx="822960" cy="621792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EF4444"/>
                </a:solidFill>
              </a:rPr>
              <a:t>Tier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4078224"/>
            <a:ext cx="3566160" cy="621792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EF4444"/>
                </a:solidFill>
              </a:rPr>
              <a:t>drawdown &gt;= 20%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4078224"/>
            <a:ext cx="4114800" cy="621792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EF4444"/>
                </a:solidFill>
              </a:rPr>
              <a:t>Suspend (human unlock)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4078224"/>
            <a:ext cx="2286000" cy="621792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EF4444"/>
                </a:solidFill>
              </a:rPr>
              <a:t>7 days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36592"/>
            <a:ext cx="822960" cy="621792"/>
          </a:xfrm>
          <a:prstGeom prst="rect">
            <a:avLst/>
          </a:prstGeom>
          <a:solidFill>
            <a:srgbClr val="4C040C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B7185"/>
                </a:solidFill>
              </a:rPr>
              <a:t>Tier 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4736592"/>
            <a:ext cx="3566160" cy="621792"/>
          </a:xfrm>
          <a:prstGeom prst="rect">
            <a:avLst/>
          </a:prstGeom>
          <a:solidFill>
            <a:srgbClr val="4C040C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B7185"/>
                </a:solidFill>
              </a:rPr>
              <a:t>5+ consecutive losing days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4736592"/>
            <a:ext cx="4114800" cy="621792"/>
          </a:xfrm>
          <a:prstGeom prst="rect">
            <a:avLst/>
          </a:prstGeom>
          <a:solidFill>
            <a:srgbClr val="4C040C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B7185"/>
                </a:solidFill>
              </a:rPr>
              <a:t>Suspend (human review)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4736592"/>
            <a:ext cx="2286000" cy="621792"/>
          </a:xfrm>
          <a:prstGeom prst="rect">
            <a:avLst/>
          </a:prstGeom>
          <a:solidFill>
            <a:srgbClr val="4C040C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B7185"/>
                </a:solidFill>
              </a:rPr>
              <a:t>7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Data Model: 12 Tables Across 3 Domains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713232"/>
            <a:ext cx="3749039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3749039" cy="704088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F4444"/>
                </a:solidFill>
              </a:rPr>
              <a:t>c_sessions</a:t>
            </a:r>
          </a:p>
          <a:p>
            <a:r>
              <a:rPr sz="750">
                <a:solidFill>
                  <a:srgbClr val="CBD5E1"/>
                </a:solidFill>
              </a:rPr>
              <a:t>session tracking, cost rollup, pending_trades queue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828800"/>
            <a:ext cx="3749039" cy="704088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F4444"/>
                </a:solidFill>
              </a:rPr>
              <a:t>c_positions</a:t>
            </a:r>
          </a:p>
          <a:p>
            <a:r>
              <a:rPr sz="750">
                <a:solidFill>
                  <a:srgbClr val="CBD5E1"/>
                </a:solidFill>
              </a:rPr>
              <a:t>open/closed positions, fill prices, P&amp;L, trail_order_id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2606040"/>
            <a:ext cx="3749039" cy="704088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F4444"/>
                </a:solidFill>
              </a:rPr>
              <a:t>c_scan_results</a:t>
            </a:r>
          </a:p>
          <a:p>
            <a:r>
              <a:rPr sz="750">
                <a:solidFill>
                  <a:srgbClr val="CBD5E1"/>
                </a:solidFill>
              </a:rPr>
              <a:t>scanner output: ticker, score, price, sector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3383280"/>
            <a:ext cx="3749039" cy="704088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F4444"/>
                </a:solidFill>
              </a:rPr>
              <a:t>c_agent_config</a:t>
            </a:r>
          </a:p>
          <a:p>
            <a:r>
              <a:rPr sz="750">
                <a:solidFill>
                  <a:srgbClr val="CBD5E1"/>
                </a:solidFill>
              </a:rPr>
              <a:t>static config: loss_limit, intraday_entries (human-only)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4160520"/>
            <a:ext cx="3749039" cy="704088"/>
          </a:xfrm>
          <a:prstGeom prst="rect">
            <a:avLst/>
          </a:prstGeom>
          <a:solidFill>
            <a:srgbClr val="4A044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A855F7"/>
                </a:solidFill>
              </a:rPr>
              <a:t>c_market_evals</a:t>
            </a:r>
          </a:p>
          <a:p>
            <a:r>
              <a:rPr sz="750">
                <a:solidFill>
                  <a:srgbClr val="CBD5E1"/>
                </a:solidFill>
              </a:rPr>
              <a:t>V1 vs V2 shadow comparison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39" y="713232"/>
            <a:ext cx="3749039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Adaptive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39" y="1051560"/>
            <a:ext cx="3749039" cy="704088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59E0B"/>
                </a:solidFill>
              </a:rPr>
              <a:t>c_strategy_params</a:t>
            </a:r>
          </a:p>
          <a:p>
            <a:r>
              <a:rPr sz="750">
                <a:solidFill>
                  <a:srgbClr val="CBD5E1"/>
                </a:solidFill>
              </a:rPr>
              <a:t>tunable params: score, ATR, trail; cooldown_until; bounds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39" y="1828800"/>
            <a:ext cx="3749039" cy="704088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59E0B"/>
                </a:solidFill>
              </a:rPr>
              <a:t>c_learnings</a:t>
            </a:r>
          </a:p>
          <a:p>
            <a:r>
              <a:rPr sz="750">
                <a:solidFill>
                  <a:srgbClr val="CBD5E1"/>
                </a:solidFill>
              </a:rPr>
              <a:t>observations, adjustments, avoid_ticker, goal_recommendations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39" y="2606040"/>
            <a:ext cx="3749039" cy="704088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59E0B"/>
                </a:solidFill>
              </a:rPr>
              <a:t>c_goals</a:t>
            </a:r>
          </a:p>
          <a:p>
            <a:r>
              <a:rPr sz="750">
                <a:solidFill>
                  <a:srgbClr val="CBD5E1"/>
                </a:solidFill>
              </a:rPr>
              <a:t>daily_target, daily_floor, 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39" y="3383280"/>
            <a:ext cx="3749039" cy="704088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59E0B"/>
                </a:solidFill>
              </a:rPr>
              <a:t>c_goal_snapshots</a:t>
            </a:r>
          </a:p>
          <a:p>
            <a:r>
              <a:rPr sz="750">
                <a:solidFill>
                  <a:srgbClr val="CBD5E1"/>
                </a:solidFill>
              </a:rPr>
              <a:t>daily P&amp;L vs goal snapshot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8" y="713232"/>
            <a:ext cx="3749039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8" y="1051560"/>
            <a:ext cx="3749039" cy="704088"/>
          </a:xfrm>
          <a:prstGeom prst="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B82F6"/>
                </a:solidFill>
              </a:rPr>
              <a:t>c_traces</a:t>
            </a:r>
          </a:p>
          <a:p>
            <a:r>
              <a:rPr sz="750">
                <a:solidFill>
                  <a:srgbClr val="CBD5E1"/>
                </a:solidFill>
              </a:rPr>
              <a:t>span-level trace: tool calls, tokens, latency, cost_usd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8" y="1828800"/>
            <a:ext cx="3749039" cy="704088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F4444"/>
                </a:solidFill>
              </a:rPr>
              <a:t>c_protection_events</a:t>
            </a:r>
          </a:p>
          <a:p>
            <a:r>
              <a:rPr sz="750">
                <a:solidFill>
                  <a:srgbClr val="CBD5E1"/>
                </a:solidFill>
              </a:rPr>
              <a:t>immutable tier events: trigger, action, suspended_until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8" y="2606040"/>
            <a:ext cx="3749039" cy="704088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2C55E"/>
                </a:solidFill>
              </a:rPr>
              <a:t>c_daily_performance</a:t>
            </a:r>
          </a:p>
          <a:p>
            <a:r>
              <a:rPr sz="750">
                <a:solidFill>
                  <a:srgbClr val="CBD5E1"/>
                </a:solidFill>
              </a:rPr>
              <a:t>per-day P&amp;L, win_rate, largest_win/loss, avg_hold_min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